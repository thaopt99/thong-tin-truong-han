
<file path=[Content_Types].xml><?xml version="1.0" encoding="utf-8"?>
<Types xmlns="http://schemas.openxmlformats.org/package/2006/content-types">
  <Default Extension="jpeg" ContentType="image/jpeg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16" autoAdjust="0"/>
    <p:restoredTop sz="94660"/>
  </p:normalViewPr>
  <p:slideViewPr>
    <p:cSldViewPr snapToGrid="0">
      <p:cViewPr varScale="1">
        <p:scale>
          <a:sx n="126" d="100"/>
          <a:sy n="126" d="100"/>
        </p:scale>
        <p:origin x="9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a Thu Nguyen" userId="376a43ad2eec14a6" providerId="LiveId" clId="{72CB8B9F-2BC4-4007-A80A-84C8D2E98BEF}"/>
    <pc:docChg chg="modSld">
      <pc:chgData name="Tra Thu Nguyen" userId="376a43ad2eec14a6" providerId="LiveId" clId="{72CB8B9F-2BC4-4007-A80A-84C8D2E98BEF}" dt="2026-07-15T08:24:36.952" v="0" actId="14100"/>
      <pc:docMkLst>
        <pc:docMk/>
      </pc:docMkLst>
      <pc:sldChg chg="modSp mod">
        <pc:chgData name="Tra Thu Nguyen" userId="376a43ad2eec14a6" providerId="LiveId" clId="{72CB8B9F-2BC4-4007-A80A-84C8D2E98BEF}" dt="2026-07-15T08:24:36.952" v="0" actId="14100"/>
        <pc:sldMkLst>
          <pc:docMk/>
          <pc:sldMk cId="0" sldId="256"/>
        </pc:sldMkLst>
        <pc:spChg chg="mod">
          <ac:chgData name="Tra Thu Nguyen" userId="376a43ad2eec14a6" providerId="LiveId" clId="{72CB8B9F-2BC4-4007-A80A-84C8D2E98BEF}" dt="2026-07-15T08:24:36.952" v="0" actId="14100"/>
          <ac:spMkLst>
            <pc:docMk/>
            <pc:sldMk cId="0" sldId="256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7A585-A5C2-A252-E09D-CB8CA70F7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4B39B2-62B6-B426-578F-D24369B8C6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E1BA5E3-447E-FAC9-8B9E-DF84CDC3A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B3FEBC-5A5C-F72E-EF79-F36235D0FB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557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MAIN">
    <p:bg>
      <p:bgPr>
        <a:solidFill>
          <a:srgbClr val="0E26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783080"/>
            <a:ext cx="749808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E26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566928"/>
            <a:ext cx="80467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dirty="0"/>
            </a:lvl1pPr>
          </a:lstStyle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6623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was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647">
              <a:alpha val="6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left gra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724124" cy="5143500"/>
          </a:xfrm>
          <a:prstGeom prst="rect">
            <a:avLst/>
          </a:prstGeom>
          <a:solidFill>
            <a:srgbClr val="0E2647">
              <a:alpha val="8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3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대덕대학교</a:t>
            </a:r>
            <a:r>
              <a:rPr lang="en-US" sz="1400" b="1" kern="0" spc="100" dirty="0">
                <a:solidFill>
                  <a:srgbClr val="D9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DAEDUK UNIVERSITY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76656" y="1234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TUYỂN SINH</a:t>
            </a:r>
            <a:endParaRPr lang="en-US" sz="26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178308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800" b="1" dirty="0">
                <a:solidFill>
                  <a:srgbClr val="E7B5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D4-1</a:t>
            </a:r>
            <a:endParaRPr lang="en-US" sz="11800" dirty="0"/>
          </a:p>
        </p:txBody>
      </p:sp>
      <p:sp>
        <p:nvSpPr>
          <p:cNvPr id="8" name="Text 5"/>
          <p:cNvSpPr/>
          <p:nvPr/>
        </p:nvSpPr>
        <p:spPr>
          <a:xfrm>
            <a:off x="694944" y="33101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TẬP  ·  THỰC HÀNH  ·  LÀM VIỆC TẠI HÀN QUỐC</a:t>
            </a:r>
            <a:endParaRPr lang="en-US" sz="1600" dirty="0"/>
          </a:p>
        </p:txBody>
      </p:sp>
      <p:sp>
        <p:nvSpPr>
          <p:cNvPr id="9" name="cta p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944" y="3913632"/>
            <a:ext cx="3611880" cy="566928"/>
          </a:xfrm>
          <a:prstGeom prst="rect">
            <a:avLst/>
          </a:prstGeom>
          <a:solidFill>
            <a:srgbClr val="E7B53C"/>
          </a:solidFill>
          <a:ln/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94944" y="3913632"/>
            <a:ext cx="3611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TUYỂN 100 SINH VIÊN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94944" y="46817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D9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 Gajeong-ro, Yuseong-gu, Daejeon, Hàn Quốc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verlay was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647">
              <a:alpha val="5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lef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852160" cy="5143500"/>
          </a:xfrm>
          <a:prstGeom prst="rect">
            <a:avLst/>
          </a:prstGeom>
          <a:solidFill>
            <a:srgbClr val="0E2647">
              <a:alpha val="8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3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 SAO CHỌN DAEDUK</a:t>
            </a:r>
            <a:endParaRPr lang="en-US" sz="1200" dirty="0"/>
          </a:p>
        </p:txBody>
      </p:sp>
      <p:sp>
        <p:nvSpPr>
          <p:cNvPr id="6" name="gold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1298448"/>
            <a:ext cx="566928" cy="54864"/>
          </a:xfrm>
          <a:prstGeom prst="rect">
            <a:avLst/>
          </a:prstGeom>
          <a:solidFill>
            <a:srgbClr val="E7B5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566928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Thế mạnh chương trình</a:t>
            </a:r>
            <a:endParaRPr lang="en-US" sz="3200" dirty="0"/>
          </a:p>
        </p:txBody>
      </p:sp>
      <p:sp>
        <p:nvSpPr>
          <p:cNvPr id="8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572768"/>
            <a:ext cx="4892040" cy="786384"/>
          </a:xfrm>
          <a:prstGeom prst="rect">
            <a:avLst/>
          </a:prstGeom>
          <a:solidFill>
            <a:srgbClr val="16345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572768"/>
            <a:ext cx="64008" cy="786384"/>
          </a:xfrm>
          <a:prstGeom prst="rect">
            <a:avLst/>
          </a:prstGeom>
          <a:solidFill>
            <a:srgbClr val="E7B5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86384" y="1572768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3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1481328" y="1618488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Đào tạo thực hành</a:t>
            </a:r>
            <a:endParaRPr lang="en-US" sz="14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D9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trình định hướng nghề nghiệp, gắn với thực tế công việc.</a:t>
            </a:r>
            <a:endParaRPr lang="en-US" sz="1450" dirty="0"/>
          </a:p>
        </p:txBody>
      </p:sp>
      <p:sp>
        <p:nvSpPr>
          <p:cNvPr id="12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14016"/>
            <a:ext cx="4892040" cy="786384"/>
          </a:xfrm>
          <a:prstGeom prst="rect">
            <a:avLst/>
          </a:prstGeom>
          <a:solidFill>
            <a:srgbClr val="16345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414016"/>
            <a:ext cx="64008" cy="786384"/>
          </a:xfrm>
          <a:prstGeom prst="rect">
            <a:avLst/>
          </a:prstGeom>
          <a:solidFill>
            <a:srgbClr val="E7B5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86384" y="2414016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3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481328" y="2459736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Kỹ thuật &amp; công nghệ hiện đại</a:t>
            </a:r>
            <a:endParaRPr lang="en-US" sz="14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D9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Thế mạnh đào tạo trong lĩnh vực kỹ thuật, công nghệ tiên tiến.</a:t>
            </a:r>
            <a:endParaRPr lang="en-US" sz="1450" dirty="0"/>
          </a:p>
        </p:txBody>
      </p:sp>
      <p:sp>
        <p:nvSpPr>
          <p:cNvPr id="16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255264"/>
            <a:ext cx="4892040" cy="786384"/>
          </a:xfrm>
          <a:prstGeom prst="rect">
            <a:avLst/>
          </a:prstGeom>
          <a:solidFill>
            <a:srgbClr val="16345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255264"/>
            <a:ext cx="64008" cy="786384"/>
          </a:xfrm>
          <a:prstGeom prst="rect">
            <a:avLst/>
          </a:prstGeom>
          <a:solidFill>
            <a:srgbClr val="E7B5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786384" y="3255264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3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1481328" y="3300984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tập tại doanh nghiệp</a:t>
            </a:r>
            <a:endParaRPr lang="en-US" sz="14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D9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Chú trọng kỹ năng ứng dụng và trải nghiệm thực tế tại doanh nghiệp.</a:t>
            </a:r>
            <a:endParaRPr lang="en-US" sz="1450" dirty="0"/>
          </a:p>
        </p:txBody>
      </p:sp>
      <p:sp>
        <p:nvSpPr>
          <p:cNvPr id="20" name="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096512"/>
            <a:ext cx="4892040" cy="786384"/>
          </a:xfrm>
          <a:prstGeom prst="rect">
            <a:avLst/>
          </a:prstGeom>
          <a:solidFill>
            <a:srgbClr val="16345F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096512"/>
            <a:ext cx="64008" cy="786384"/>
          </a:xfrm>
          <a:prstGeom prst="rect">
            <a:avLst/>
          </a:prstGeom>
          <a:solidFill>
            <a:srgbClr val="E7B5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86384" y="4096512"/>
            <a:ext cx="6400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3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1481328" y="4142232"/>
            <a:ext cx="39776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hội việc làm tốt</a:t>
            </a:r>
            <a:endParaRPr lang="en-US" sz="14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D9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Việc làm sau tốt nghiệp gắn chặt với nhu cầu tuyển dụng thực tế.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verlay was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647">
              <a:alpha val="5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grid was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097280"/>
            <a:ext cx="9144000" cy="4046220"/>
          </a:xfrm>
          <a:prstGeom prst="rect">
            <a:avLst/>
          </a:prstGeom>
          <a:solidFill>
            <a:srgbClr val="0E2647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3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NGÀNH NỔI BẬT</a:t>
            </a:r>
            <a:endParaRPr lang="en-US" sz="1200" dirty="0"/>
          </a:p>
        </p:txBody>
      </p:sp>
      <p:sp>
        <p:nvSpPr>
          <p:cNvPr id="6" name="gold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1298448"/>
            <a:ext cx="566928" cy="54864"/>
          </a:xfrm>
          <a:prstGeom prst="rect">
            <a:avLst/>
          </a:prstGeom>
          <a:solidFill>
            <a:srgbClr val="E7B5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566928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ngành đào tạo mũi nhọn</a:t>
            </a:r>
            <a:endParaRPr lang="en-US" sz="3000" dirty="0"/>
          </a:p>
        </p:txBody>
      </p:sp>
      <p:sp>
        <p:nvSpPr>
          <p:cNvPr id="8" name="major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83080"/>
            <a:ext cx="1404518" cy="2651760"/>
          </a:xfrm>
          <a:prstGeom prst="rect">
            <a:avLst/>
          </a:prstGeom>
          <a:solidFill>
            <a:srgbClr val="0E2647">
              <a:alpha val="9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83080"/>
            <a:ext cx="1404518" cy="82296"/>
          </a:xfrm>
          <a:prstGeom prst="rect">
            <a:avLst/>
          </a:prstGeom>
          <a:solidFill>
            <a:srgbClr val="E7B5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58368" y="2093976"/>
            <a:ext cx="14045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3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704088" y="2926080"/>
            <a:ext cx="13130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nghệ ô tô</a:t>
            </a:r>
            <a:endParaRPr lang="en-US" sz="1400" dirty="0"/>
          </a:p>
        </p:txBody>
      </p:sp>
      <p:sp>
        <p:nvSpPr>
          <p:cNvPr id="12" name="major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64054" y="1783080"/>
            <a:ext cx="1404518" cy="2651760"/>
          </a:xfrm>
          <a:prstGeom prst="rect">
            <a:avLst/>
          </a:prstGeom>
          <a:solidFill>
            <a:srgbClr val="0E2647">
              <a:alpha val="9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64054" y="1783080"/>
            <a:ext cx="1404518" cy="82296"/>
          </a:xfrm>
          <a:prstGeom prst="rect">
            <a:avLst/>
          </a:prstGeom>
          <a:solidFill>
            <a:srgbClr val="E7B5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264054" y="2093976"/>
            <a:ext cx="14045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3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400" dirty="0"/>
          </a:p>
        </p:txBody>
      </p:sp>
      <p:sp>
        <p:nvSpPr>
          <p:cNvPr id="15" name="Text 12"/>
          <p:cNvSpPr/>
          <p:nvPr/>
        </p:nvSpPr>
        <p:spPr>
          <a:xfrm>
            <a:off x="2309774" y="2926080"/>
            <a:ext cx="13130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Kỹ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thuật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điện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điện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tử</a:t>
            </a:r>
            <a:endParaRPr lang="en-US" sz="1400" dirty="0"/>
          </a:p>
        </p:txBody>
      </p:sp>
      <p:sp>
        <p:nvSpPr>
          <p:cNvPr id="16" name="major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69741" y="1783080"/>
            <a:ext cx="1404518" cy="2651760"/>
          </a:xfrm>
          <a:prstGeom prst="rect">
            <a:avLst/>
          </a:prstGeom>
          <a:solidFill>
            <a:srgbClr val="0E2647">
              <a:alpha val="9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69741" y="1783080"/>
            <a:ext cx="1404518" cy="82296"/>
          </a:xfrm>
          <a:prstGeom prst="rect">
            <a:avLst/>
          </a:prstGeom>
          <a:solidFill>
            <a:srgbClr val="E7B5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3869741" y="2093976"/>
            <a:ext cx="14045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3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3915461" y="2926080"/>
            <a:ext cx="13130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nghệ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minh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(IT)</a:t>
            </a:r>
            <a:endParaRPr lang="en-US" sz="1400" dirty="0"/>
          </a:p>
        </p:txBody>
      </p:sp>
      <p:sp>
        <p:nvSpPr>
          <p:cNvPr id="20" name="major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75427" y="1783080"/>
            <a:ext cx="1404518" cy="2651760"/>
          </a:xfrm>
          <a:prstGeom prst="rect">
            <a:avLst/>
          </a:prstGeom>
          <a:solidFill>
            <a:srgbClr val="0E2647">
              <a:alpha val="9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75427" y="1783080"/>
            <a:ext cx="1404518" cy="82296"/>
          </a:xfrm>
          <a:prstGeom prst="rect">
            <a:avLst/>
          </a:prstGeom>
          <a:solidFill>
            <a:srgbClr val="E7B5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475427" y="2093976"/>
            <a:ext cx="14045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3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3400" dirty="0"/>
          </a:p>
        </p:txBody>
      </p:sp>
      <p:sp>
        <p:nvSpPr>
          <p:cNvPr id="23" name="Text 20"/>
          <p:cNvSpPr/>
          <p:nvPr/>
        </p:nvSpPr>
        <p:spPr>
          <a:xfrm>
            <a:off x="5521147" y="2926080"/>
            <a:ext cx="13130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Bán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dẫn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AI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và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Phần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mềm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24" name="major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81114" y="1783080"/>
            <a:ext cx="1404518" cy="2651760"/>
          </a:xfrm>
          <a:prstGeom prst="rect">
            <a:avLst/>
          </a:prstGeom>
          <a:solidFill>
            <a:srgbClr val="0E2647">
              <a:alpha val="92000"/>
            </a:srgbClr>
          </a:solidFill>
          <a:ln w="9525">
            <a:solidFill>
              <a:srgbClr val="FFFFFF">
                <a:alpha val="30000"/>
              </a:srgbClr>
            </a:solidFill>
            <a:prstDash val="solid"/>
          </a:ln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op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81114" y="1783080"/>
            <a:ext cx="1404518" cy="82296"/>
          </a:xfrm>
          <a:prstGeom prst="rect">
            <a:avLst/>
          </a:prstGeom>
          <a:solidFill>
            <a:srgbClr val="E7B5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7081114" y="2093976"/>
            <a:ext cx="14045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3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3400" dirty="0"/>
          </a:p>
        </p:txBody>
      </p:sp>
      <p:sp>
        <p:nvSpPr>
          <p:cNvPr id="27" name="Text 24"/>
          <p:cNvSpPr/>
          <p:nvPr/>
        </p:nvSpPr>
        <p:spPr>
          <a:xfrm>
            <a:off x="7126834" y="2926080"/>
            <a:ext cx="13130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Điều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dưỡng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chăm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sóc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sức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khỏe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.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58368" y="462686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9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Lựa chọn ngành phù hợp với sở trường và định hướng làm việc tại Hàn Quốc.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verlay was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647">
              <a:alpha val="5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lef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852160" cy="5143500"/>
          </a:xfrm>
          <a:prstGeom prst="rect">
            <a:avLst/>
          </a:prstGeom>
          <a:solidFill>
            <a:srgbClr val="0E2647">
              <a:alpha val="8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3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ĐIỀU KIỆN TUYỂN SINH</a:t>
            </a:r>
            <a:endParaRPr lang="en-US" sz="1200" dirty="0"/>
          </a:p>
        </p:txBody>
      </p:sp>
      <p:sp>
        <p:nvSpPr>
          <p:cNvPr id="6" name="gold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1298448"/>
            <a:ext cx="566928" cy="54864"/>
          </a:xfrm>
          <a:prstGeom prst="rect">
            <a:avLst/>
          </a:prstGeom>
          <a:solidFill>
            <a:srgbClr val="E7B5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566928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Bạn cần đáp ứng những gì?</a:t>
            </a:r>
            <a:endParaRPr lang="en-US" sz="3000" dirty="0"/>
          </a:p>
        </p:txBody>
      </p:sp>
      <p:sp>
        <p:nvSpPr>
          <p:cNvPr id="8" name="req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572768"/>
            <a:ext cx="2578608" cy="932688"/>
          </a:xfrm>
          <a:prstGeom prst="rect">
            <a:avLst/>
          </a:prstGeom>
          <a:solidFill>
            <a:srgbClr val="16345F">
              <a:alpha val="90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572768"/>
            <a:ext cx="64008" cy="932688"/>
          </a:xfrm>
          <a:prstGeom prst="rect">
            <a:avLst/>
          </a:prstGeom>
          <a:solidFill>
            <a:srgbClr val="E7B5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59536" y="1691640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3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TƯỢNG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59536" y="1956816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Đã tốt nghiệp THPT</a:t>
            </a:r>
            <a:endParaRPr lang="en-US" sz="1400" dirty="0"/>
          </a:p>
        </p:txBody>
      </p:sp>
      <p:sp>
        <p:nvSpPr>
          <p:cNvPr id="12" name="req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6704" y="1572768"/>
            <a:ext cx="2578608" cy="932688"/>
          </a:xfrm>
          <a:prstGeom prst="rect">
            <a:avLst/>
          </a:prstGeom>
          <a:solidFill>
            <a:srgbClr val="16345F">
              <a:alpha val="90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6704" y="1572768"/>
            <a:ext cx="64008" cy="932688"/>
          </a:xfrm>
          <a:prstGeom prst="rect">
            <a:avLst/>
          </a:prstGeom>
          <a:solidFill>
            <a:srgbClr val="E7B5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547872" y="1691640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3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LỰC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547872" y="1956816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GPA từ 6.5 trở lên</a:t>
            </a:r>
            <a:endParaRPr lang="en-US" sz="1400" dirty="0"/>
          </a:p>
        </p:txBody>
      </p:sp>
      <p:sp>
        <p:nvSpPr>
          <p:cNvPr id="16" name="req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651760"/>
            <a:ext cx="2578608" cy="932688"/>
          </a:xfrm>
          <a:prstGeom prst="rect">
            <a:avLst/>
          </a:prstGeom>
          <a:solidFill>
            <a:srgbClr val="16345F">
              <a:alpha val="90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651760"/>
            <a:ext cx="64008" cy="932688"/>
          </a:xfrm>
          <a:prstGeom prst="rect">
            <a:avLst/>
          </a:prstGeom>
          <a:solidFill>
            <a:srgbClr val="E7B5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59536" y="2770632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3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 TUỔI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59536" y="3035808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18 – 25 tuổi</a:t>
            </a:r>
            <a:endParaRPr lang="en-US" sz="1400" dirty="0"/>
          </a:p>
        </p:txBody>
      </p:sp>
      <p:sp>
        <p:nvSpPr>
          <p:cNvPr id="20" name="req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6704" y="2651760"/>
            <a:ext cx="2578608" cy="932688"/>
          </a:xfrm>
          <a:prstGeom prst="rect">
            <a:avLst/>
          </a:prstGeom>
          <a:solidFill>
            <a:srgbClr val="16345F">
              <a:alpha val="90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6704" y="2651760"/>
            <a:ext cx="64008" cy="932688"/>
          </a:xfrm>
          <a:prstGeom prst="rect">
            <a:avLst/>
          </a:prstGeom>
          <a:solidFill>
            <a:srgbClr val="E7B5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547872" y="2770632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3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HỌC TẬP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3547872" y="3035808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quá 03 năm</a:t>
            </a:r>
            <a:endParaRPr lang="en-US" sz="1400" dirty="0"/>
          </a:p>
        </p:txBody>
      </p:sp>
      <p:sp>
        <p:nvSpPr>
          <p:cNvPr id="24" name="req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30752"/>
            <a:ext cx="2578608" cy="932688"/>
          </a:xfrm>
          <a:prstGeom prst="rect">
            <a:avLst/>
          </a:prstGeom>
          <a:solidFill>
            <a:srgbClr val="16345F">
              <a:alpha val="90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30752"/>
            <a:ext cx="64008" cy="932688"/>
          </a:xfrm>
          <a:prstGeom prst="rect">
            <a:avLst/>
          </a:prstGeom>
          <a:solidFill>
            <a:srgbClr val="E7B5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59536" y="3849624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3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CHUYÊN CẦN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59536" y="411480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Nghỉ dưới 10 buổi / 3 năm THPT</a:t>
            </a:r>
            <a:endParaRPr lang="en-US" sz="1400" dirty="0"/>
          </a:p>
        </p:txBody>
      </p:sp>
      <p:sp>
        <p:nvSpPr>
          <p:cNvPr id="28" name="sta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99632" y="1572768"/>
            <a:ext cx="2286000" cy="3108960"/>
          </a:xfrm>
          <a:prstGeom prst="rect">
            <a:avLst/>
          </a:prstGeom>
          <a:solidFill>
            <a:srgbClr val="E7B53C"/>
          </a:solidFill>
          <a:ln/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199632" y="1737360"/>
            <a:ext cx="2286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00" b="1" kern="0" spc="200" dirty="0">
                <a:solidFill>
                  <a:srgbClr val="0E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TUYỂN</a:t>
            </a:r>
            <a:endParaRPr lang="en-US" sz="13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7200" b="1" dirty="0">
                <a:solidFill>
                  <a:srgbClr val="0E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</a:t>
            </a:r>
            <a:endParaRPr lang="en-US" sz="13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500" b="1" kern="0" spc="200" dirty="0">
                <a:solidFill>
                  <a:srgbClr val="0E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SINH VIÊN/</a:t>
            </a:r>
            <a:r>
              <a:rPr lang="en-US" sz="1500" b="1" kern="0" spc="200" dirty="0" err="1">
                <a:solidFill>
                  <a:srgbClr val="0E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Kỳ</a:t>
            </a:r>
            <a:endParaRPr lang="en-US" sz="1300" dirty="0"/>
          </a:p>
          <a:p>
            <a:pPr marL="0" indent="0" algn="ctr">
              <a:lnSpc>
                <a:spcPct val="102000"/>
              </a:lnSpc>
              <a:buNone/>
            </a:pPr>
            <a:endParaRPr lang="en-US" sz="13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50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hội có giới hạn —</a:t>
            </a:r>
            <a:endParaRPr lang="en-US" sz="13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50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ký sớm để giữ suất.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verlay was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647">
              <a:alpha val="5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was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097280"/>
            <a:ext cx="9144000" cy="4046220"/>
          </a:xfrm>
          <a:prstGeom prst="rect">
            <a:avLst/>
          </a:prstGeom>
          <a:solidFill>
            <a:srgbClr val="0E2647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58368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3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LỘ TRÌNH ĐÀO TẠO → VIỆC LÀM TẠI HÀN QUỐC</a:t>
            </a:r>
            <a:endParaRPr lang="en-US" sz="1200" dirty="0"/>
          </a:p>
        </p:txBody>
      </p:sp>
      <p:sp>
        <p:nvSpPr>
          <p:cNvPr id="6" name="gold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1298448"/>
            <a:ext cx="566928" cy="54864"/>
          </a:xfrm>
          <a:prstGeom prst="rect">
            <a:avLst/>
          </a:prstGeom>
          <a:solidFill>
            <a:srgbClr val="E7B5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0"/>
          <p:cNvSpPr>
            <a:spLocks noGrp="1"/>
          </p:cNvSpPr>
          <p:nvPr>
            <p:ph type="title" idx="100" hasCustomPrompt="1"/>
          </p:nvPr>
        </p:nvSpPr>
        <p:spPr>
          <a:xfrm>
            <a:off x="640080" y="566928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giai đoạn phát triển</a:t>
            </a:r>
            <a:endParaRPr lang="en-US" sz="3000" dirty="0"/>
          </a:p>
        </p:txBody>
      </p:sp>
      <p:sp>
        <p:nvSpPr>
          <p:cNvPr id="8" name="stag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700784"/>
            <a:ext cx="1152144" cy="2880360"/>
          </a:xfrm>
          <a:prstGeom prst="rect">
            <a:avLst/>
          </a:prstGeom>
          <a:solidFill>
            <a:srgbClr val="0E2647">
              <a:alpha val="94000"/>
            </a:srgbClr>
          </a:solidFill>
          <a:ln/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tage number 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1832" y="1883664"/>
            <a:ext cx="585216" cy="585216"/>
          </a:xfrm>
          <a:prstGeom prst="ellipse">
            <a:avLst/>
          </a:prstGeom>
          <a:solidFill>
            <a:srgbClr val="E7B5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941832" y="188366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58368" y="2596896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3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 D4-1</a:t>
            </a:r>
            <a:endParaRPr lang="en-US" sz="1150" dirty="0"/>
          </a:p>
        </p:txBody>
      </p:sp>
      <p:sp>
        <p:nvSpPr>
          <p:cNvPr id="12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6404" y="2926080"/>
            <a:ext cx="576072" cy="0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68096" y="3017520"/>
            <a:ext cx="932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 tiếng Hàn cơ bản, làm quen môi trường học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tập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Lên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chuyên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ngành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06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tháng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Topik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và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chuyên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cần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</a:t>
            </a:r>
            <a:endParaRPr lang="en-US" sz="1050" dirty="0"/>
          </a:p>
        </p:txBody>
      </p:sp>
      <p:sp>
        <p:nvSpPr>
          <p:cNvPr id="14" name="stag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93392" y="1700784"/>
            <a:ext cx="1152144" cy="2880360"/>
          </a:xfrm>
          <a:prstGeom prst="rect">
            <a:avLst/>
          </a:prstGeom>
          <a:solidFill>
            <a:srgbClr val="0E2647">
              <a:alpha val="94000"/>
            </a:srgbClr>
          </a:solidFill>
          <a:ln/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tage number 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76856" y="1883664"/>
            <a:ext cx="585216" cy="585216"/>
          </a:xfrm>
          <a:prstGeom prst="ellipse">
            <a:avLst/>
          </a:prstGeom>
          <a:solidFill>
            <a:srgbClr val="E7B5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276856" y="188366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1993392" y="2596896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3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 D2-1</a:t>
            </a:r>
            <a:endParaRPr lang="en-US" sz="1150" dirty="0"/>
          </a:p>
        </p:txBody>
      </p:sp>
      <p:sp>
        <p:nvSpPr>
          <p:cNvPr id="18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81428" y="2926080"/>
            <a:ext cx="576072" cy="0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2103120" y="3017520"/>
            <a:ext cx="932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Nâng cao tiếng Hàn, hướng tới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chuẩn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TOPIK 2. Học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chuyên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ngành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Deaduk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yêu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cầu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tối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thiểu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Topik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1).</a:t>
            </a:r>
            <a:endParaRPr lang="en-US" sz="1050" dirty="0"/>
          </a:p>
        </p:txBody>
      </p:sp>
      <p:sp>
        <p:nvSpPr>
          <p:cNvPr id="20" name="stag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28416" y="1700784"/>
            <a:ext cx="1152144" cy="2880360"/>
          </a:xfrm>
          <a:prstGeom prst="rect">
            <a:avLst/>
          </a:prstGeom>
          <a:solidFill>
            <a:srgbClr val="0E2647">
              <a:alpha val="94000"/>
            </a:srgbClr>
          </a:solidFill>
          <a:ln/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tage number 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11880" y="1883664"/>
            <a:ext cx="585216" cy="585216"/>
          </a:xfrm>
          <a:prstGeom prst="ellipse">
            <a:avLst/>
          </a:prstGeom>
          <a:solidFill>
            <a:srgbClr val="E7B5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3611880" y="188366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3328416" y="2596896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3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 D2-1</a:t>
            </a:r>
            <a:endParaRPr lang="en-US" sz="1150" dirty="0"/>
          </a:p>
        </p:txBody>
      </p:sp>
      <p:sp>
        <p:nvSpPr>
          <p:cNvPr id="24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616452" y="2926080"/>
            <a:ext cx="576072" cy="0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3438144" y="3017520"/>
            <a:ext cx="932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Đào tạo chuyên ngành theo đơn đặt hàng doanh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nghiệp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Thời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gian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đào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02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tháng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với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khối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ngành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kỹ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thuật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</p:txBody>
      </p:sp>
      <p:sp>
        <p:nvSpPr>
          <p:cNvPr id="26" name="stag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63440" y="1700784"/>
            <a:ext cx="1152144" cy="2880360"/>
          </a:xfrm>
          <a:prstGeom prst="rect">
            <a:avLst/>
          </a:prstGeom>
          <a:solidFill>
            <a:srgbClr val="0E2647">
              <a:alpha val="94000"/>
            </a:srgbClr>
          </a:solidFill>
          <a:ln/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tage number 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46904" y="1883664"/>
            <a:ext cx="585216" cy="585216"/>
          </a:xfrm>
          <a:prstGeom prst="ellipse">
            <a:avLst/>
          </a:prstGeom>
          <a:solidFill>
            <a:srgbClr val="E7B5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946904" y="188366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29" name="Text 26"/>
          <p:cNvSpPr/>
          <p:nvPr/>
        </p:nvSpPr>
        <p:spPr>
          <a:xfrm>
            <a:off x="4663440" y="2596896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3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 D2-1</a:t>
            </a:r>
            <a:endParaRPr lang="en-US" sz="1150" dirty="0"/>
          </a:p>
        </p:txBody>
      </p:sp>
      <p:sp>
        <p:nvSpPr>
          <p:cNvPr id="30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51476" y="2926080"/>
            <a:ext cx="576072" cy="0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773168" y="3017520"/>
            <a:ext cx="932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Phỏng vấn và tuyển dụng trực tiếp tại doanh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nghiệp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Doanh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nghiệp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trực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tiếp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phỏng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vấn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sinh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viên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chí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đào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tạo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chuyên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ngành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50" dirty="0"/>
          </a:p>
        </p:txBody>
      </p:sp>
      <p:sp>
        <p:nvSpPr>
          <p:cNvPr id="32" name="stag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998464" y="1700784"/>
            <a:ext cx="1152144" cy="2880360"/>
          </a:xfrm>
          <a:prstGeom prst="rect">
            <a:avLst/>
          </a:prstGeom>
          <a:solidFill>
            <a:srgbClr val="0E2647">
              <a:alpha val="94000"/>
            </a:srgbClr>
          </a:solidFill>
          <a:ln/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tage number 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81928" y="1883664"/>
            <a:ext cx="585216" cy="585216"/>
          </a:xfrm>
          <a:prstGeom prst="ellipse">
            <a:avLst/>
          </a:prstGeom>
          <a:solidFill>
            <a:srgbClr val="E7B5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6281928" y="188366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600" dirty="0"/>
          </a:p>
        </p:txBody>
      </p:sp>
      <p:sp>
        <p:nvSpPr>
          <p:cNvPr id="35" name="Text 32"/>
          <p:cNvSpPr/>
          <p:nvPr/>
        </p:nvSpPr>
        <p:spPr>
          <a:xfrm>
            <a:off x="5998464" y="2596896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3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 D2-1</a:t>
            </a:r>
            <a:endParaRPr lang="en-US" sz="1150" dirty="0"/>
          </a:p>
        </p:txBody>
      </p:sp>
      <p:sp>
        <p:nvSpPr>
          <p:cNvPr id="36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86500" y="2926080"/>
            <a:ext cx="576072" cy="0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4"/>
          <p:cNvSpPr/>
          <p:nvPr/>
        </p:nvSpPr>
        <p:spPr>
          <a:xfrm>
            <a:off x="6108192" y="3017520"/>
            <a:ext cx="932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Được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tập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hưởng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lương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doanh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nghiệp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phỏng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vấn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đỗ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và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ghi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nhận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tín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05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</a:t>
            </a: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thu nhập tới 40–41 triệu đồng/tháng.</a:t>
            </a:r>
            <a:endParaRPr lang="en-US" sz="1050" dirty="0"/>
          </a:p>
        </p:txBody>
      </p:sp>
      <p:sp>
        <p:nvSpPr>
          <p:cNvPr id="38" name="stag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33488" y="1700784"/>
            <a:ext cx="1152144" cy="2880360"/>
          </a:xfrm>
          <a:prstGeom prst="rect">
            <a:avLst/>
          </a:prstGeom>
          <a:solidFill>
            <a:srgbClr val="0E2647">
              <a:alpha val="94000"/>
            </a:srgbClr>
          </a:solidFill>
          <a:ln/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tage number 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16952" y="1883664"/>
            <a:ext cx="585216" cy="585216"/>
          </a:xfrm>
          <a:prstGeom prst="ellipse">
            <a:avLst/>
          </a:prstGeom>
          <a:solidFill>
            <a:srgbClr val="E7B5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7616952" y="1883664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600" dirty="0"/>
          </a:p>
        </p:txBody>
      </p:sp>
      <p:sp>
        <p:nvSpPr>
          <p:cNvPr id="41" name="Text 38"/>
          <p:cNvSpPr/>
          <p:nvPr/>
        </p:nvSpPr>
        <p:spPr>
          <a:xfrm>
            <a:off x="7333488" y="2596896"/>
            <a:ext cx="1152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3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Visa D10</a:t>
            </a:r>
            <a:endParaRPr lang="en-US" sz="1150" dirty="0"/>
          </a:p>
        </p:txBody>
      </p:sp>
      <p:sp>
        <p:nvSpPr>
          <p:cNvPr id="42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21524" y="2926080"/>
            <a:ext cx="576072" cy="0"/>
          </a:xfrm>
          <a:prstGeom prst="line">
            <a:avLst/>
          </a:prstGeom>
          <a:noFill/>
          <a:ln w="9525">
            <a:solidFill>
              <a:srgbClr val="FFFFFF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0"/>
          <p:cNvSpPr/>
          <p:nvPr/>
        </p:nvSpPr>
        <p:spPr>
          <a:xfrm>
            <a:off x="7443216" y="3017520"/>
            <a:ext cx="93268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Chuyển visa tìm việc, ở lại làm việc sau khi tốt nghiệp.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658368" y="4681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9E2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GĐ = Giai đoạn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was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647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left gra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6309360" cy="5143500"/>
          </a:xfrm>
          <a:prstGeom prst="rect">
            <a:avLst/>
          </a:prstGeom>
          <a:solidFill>
            <a:srgbClr val="0E2647">
              <a:alpha val="7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640080" y="3886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F3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KÝ NGAY HÔM NAY</a:t>
            </a:r>
            <a:endParaRPr lang="en-US" sz="1300" dirty="0"/>
          </a:p>
        </p:txBody>
      </p:sp>
      <p:sp>
        <p:nvSpPr>
          <p:cNvPr id="6" name="Text 0"/>
          <p:cNvSpPr>
            <a:spLocks noGrp="1"/>
          </p:cNvSpPr>
          <p:nvPr>
            <p:ph type="title" idx="100" hasCustomPrompt="1"/>
          </p:nvPr>
        </p:nvSpPr>
        <p:spPr>
          <a:xfrm>
            <a:off x="599664" y="89154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hội học tập &amp; làm việc</a:t>
            </a:r>
            <a:endParaRPr lang="en-US" sz="3300" dirty="0"/>
          </a:p>
          <a:p>
            <a:pPr marL="0" indent="0" algn="l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tại Hàn Quốc đang chờ bạn</a:t>
            </a:r>
            <a:endParaRPr lang="en-US" sz="3300" dirty="0"/>
          </a:p>
        </p:txBody>
      </p:sp>
      <p:sp>
        <p:nvSpPr>
          <p:cNvPr id="7" name="info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9014" y="2007107"/>
            <a:ext cx="2615184" cy="1927060"/>
          </a:xfrm>
          <a:prstGeom prst="rect">
            <a:avLst/>
          </a:prstGeom>
          <a:solidFill>
            <a:srgbClr val="16345F">
              <a:alpha val="92000"/>
            </a:srgbClr>
          </a:solidFill>
          <a:ln w="12700">
            <a:solidFill>
              <a:srgbClr val="E7B5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41248" y="2180844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3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HẠN NỘP HỒ SƠ: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45260" y="2446020"/>
            <a:ext cx="23313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Kỳ</a:t>
            </a: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tháng</a:t>
            </a: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9: 31/07</a:t>
            </a:r>
            <a:endParaRPr lang="en-US" sz="1700" dirty="0"/>
          </a:p>
        </p:txBody>
      </p:sp>
      <p:sp>
        <p:nvSpPr>
          <p:cNvPr id="10" name="info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20186" y="2007107"/>
            <a:ext cx="2615184" cy="914400"/>
          </a:xfrm>
          <a:prstGeom prst="rect">
            <a:avLst/>
          </a:prstGeom>
          <a:solidFill>
            <a:srgbClr val="16345F">
              <a:alpha val="92000"/>
            </a:srgbClr>
          </a:solidFill>
          <a:ln w="12700">
            <a:solidFill>
              <a:srgbClr val="E7B5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3555426" y="2153413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3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TIÊU: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525846" y="2441449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</a:t>
            </a:r>
            <a:r>
              <a:rPr lang="en-US" sz="17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sinh</a:t>
            </a: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viên</a:t>
            </a: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en-US" sz="17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Kỳ</a:t>
            </a:r>
            <a:endParaRPr lang="en-US" sz="1700" dirty="0"/>
          </a:p>
        </p:txBody>
      </p:sp>
      <p:sp>
        <p:nvSpPr>
          <p:cNvPr id="13" name="info c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420186" y="3019767"/>
            <a:ext cx="2615184" cy="914400"/>
          </a:xfrm>
          <a:prstGeom prst="rect">
            <a:avLst/>
          </a:prstGeom>
          <a:solidFill>
            <a:srgbClr val="16345F">
              <a:alpha val="92000"/>
            </a:srgbClr>
          </a:solidFill>
          <a:ln w="12700">
            <a:solidFill>
              <a:srgbClr val="E7B5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603066" y="3175215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3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ĐỊA ĐIỂM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603066" y="3440391"/>
            <a:ext cx="2249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Daejeon, Hàn Quốc</a:t>
            </a:r>
            <a:endParaRPr lang="en-US" sz="1700" dirty="0"/>
          </a:p>
        </p:txBody>
      </p:sp>
      <p:sp>
        <p:nvSpPr>
          <p:cNvPr id="16" name="cta button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117047"/>
            <a:ext cx="2665830" cy="802425"/>
          </a:xfrm>
          <a:prstGeom prst="rect">
            <a:avLst/>
          </a:prstGeom>
          <a:solidFill>
            <a:srgbClr val="E7B53C"/>
          </a:solidFill>
          <a:ln/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58368" y="437083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LIÊN HỆ TƯ VẤN:</a:t>
            </a:r>
          </a:p>
          <a:p>
            <a:pPr marL="0" indent="0" algn="ctr">
              <a:buNone/>
            </a:pPr>
            <a:endParaRPr lang="en-US" sz="1500" b="1" dirty="0">
              <a:solidFill>
                <a:srgbClr val="0E2647"/>
              </a:solidFill>
              <a:latin typeface="Arial" pitchFamily="34" charset="0"/>
              <a:cs typeface="Arial" pitchFamily="34" charset="-120"/>
            </a:endParaRPr>
          </a:p>
          <a:p>
            <a:pPr marL="0" indent="0" algn="ctr">
              <a:buNone/>
            </a:pP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3442364" y="4261105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대덕대학교  ·  DAEDUK UNIVERSITY</a:t>
            </a:r>
            <a:endParaRPr lang="en-US" sz="1300" dirty="0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9E5617EC-7616-52CC-C629-B8F3C5B7527F}"/>
              </a:ext>
            </a:extLst>
          </p:cNvPr>
          <p:cNvSpPr/>
          <p:nvPr/>
        </p:nvSpPr>
        <p:spPr>
          <a:xfrm>
            <a:off x="744830" y="2743909"/>
            <a:ext cx="24884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Kỳ</a:t>
            </a: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tháng</a:t>
            </a: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12: 31/10</a:t>
            </a:r>
            <a:endParaRPr lang="en-US" sz="1700" dirty="0"/>
          </a:p>
        </p:txBody>
      </p:sp>
      <p:sp>
        <p:nvSpPr>
          <p:cNvPr id="22" name="Text 6">
            <a:extLst>
              <a:ext uri="{FF2B5EF4-FFF2-40B4-BE49-F238E27FC236}">
                <a16:creationId xmlns:a16="http://schemas.microsoft.com/office/drawing/2014/main" id="{E75C72BF-5E51-C1B3-53D2-4FAADBBC28AF}"/>
              </a:ext>
            </a:extLst>
          </p:cNvPr>
          <p:cNvSpPr/>
          <p:nvPr/>
        </p:nvSpPr>
        <p:spPr>
          <a:xfrm>
            <a:off x="734324" y="3098138"/>
            <a:ext cx="23313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Kỳ</a:t>
            </a: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tháng</a:t>
            </a: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3: 31/01 </a:t>
            </a:r>
            <a:endParaRPr lang="en-US" sz="170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BE864DAB-B0BF-3923-539D-05485E217CD9}"/>
              </a:ext>
            </a:extLst>
          </p:cNvPr>
          <p:cNvSpPr/>
          <p:nvPr/>
        </p:nvSpPr>
        <p:spPr>
          <a:xfrm>
            <a:off x="754859" y="3428999"/>
            <a:ext cx="23313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Kỳ</a:t>
            </a: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7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tháng</a:t>
            </a: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6: 30/04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21B4AB-096E-E3A9-F3EF-5D51C4D00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>
            <a:extLst>
              <a:ext uri="{FF2B5EF4-FFF2-40B4-BE49-F238E27FC236}">
                <a16:creationId xmlns:a16="http://schemas.microsoft.com/office/drawing/2014/main" id="{2921B31A-AEBE-BBE7-BB6D-888BBC202F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13" b="7813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overlay wash">
            <a:extLst>
              <a:ext uri="{FF2B5EF4-FFF2-40B4-BE49-F238E27FC236}">
                <a16:creationId xmlns:a16="http://schemas.microsoft.com/office/drawing/2014/main" id="{889BD119-F7B7-9873-7283-50E40A5C9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E2647">
              <a:alpha val="5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left panel">
            <a:extLst>
              <a:ext uri="{FF2B5EF4-FFF2-40B4-BE49-F238E27FC236}">
                <a16:creationId xmlns:a16="http://schemas.microsoft.com/office/drawing/2014/main" id="{C1C245A9-D7B6-1B7F-F234-12B8D33FBF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852160" cy="5143500"/>
          </a:xfrm>
          <a:prstGeom prst="rect">
            <a:avLst/>
          </a:prstGeom>
          <a:solidFill>
            <a:srgbClr val="0E2647">
              <a:alpha val="8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E3CD074-1A68-E64B-20C9-0A9BE132AF3B}"/>
              </a:ext>
            </a:extLst>
          </p:cNvPr>
          <p:cNvSpPr/>
          <p:nvPr/>
        </p:nvSpPr>
        <p:spPr>
          <a:xfrm>
            <a:off x="658368" y="2743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3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TÀI CHÍNH CHƯƠNG TRÌNH</a:t>
            </a:r>
            <a:endParaRPr lang="en-US" sz="1200" dirty="0"/>
          </a:p>
        </p:txBody>
      </p:sp>
      <p:sp>
        <p:nvSpPr>
          <p:cNvPr id="6" name="gold rule">
            <a:extLst>
              <a:ext uri="{FF2B5EF4-FFF2-40B4-BE49-F238E27FC236}">
                <a16:creationId xmlns:a16="http://schemas.microsoft.com/office/drawing/2014/main" id="{9BBE8F2A-CED4-F4C3-CD74-9688BA815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76656" y="1298448"/>
            <a:ext cx="566928" cy="54864"/>
          </a:xfrm>
          <a:prstGeom prst="rect">
            <a:avLst/>
          </a:prstGeom>
          <a:solidFill>
            <a:srgbClr val="E7B5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EF73953D-8612-8ABF-AF44-C59A0059214D}"/>
              </a:ext>
            </a:extLst>
          </p:cNvPr>
          <p:cNvSpPr>
            <a:spLocks noGrp="1"/>
          </p:cNvSpPr>
          <p:nvPr>
            <p:ph type="title" idx="100" hasCustomPrompt="1"/>
          </p:nvPr>
        </p:nvSpPr>
        <p:spPr>
          <a:xfrm>
            <a:off x="640080" y="566928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Bạn cần đáp ứng những gì?</a:t>
            </a:r>
            <a:endParaRPr lang="en-US" sz="3000" dirty="0"/>
          </a:p>
        </p:txBody>
      </p:sp>
      <p:sp>
        <p:nvSpPr>
          <p:cNvPr id="8" name="req card">
            <a:extLst>
              <a:ext uri="{FF2B5EF4-FFF2-40B4-BE49-F238E27FC236}">
                <a16:creationId xmlns:a16="http://schemas.microsoft.com/office/drawing/2014/main" id="{F77F829B-E0C2-A94F-7289-3F02AACA4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572768"/>
            <a:ext cx="2578608" cy="932688"/>
          </a:xfrm>
          <a:prstGeom prst="rect">
            <a:avLst/>
          </a:prstGeom>
          <a:solidFill>
            <a:srgbClr val="16345F">
              <a:alpha val="90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accent">
            <a:extLst>
              <a:ext uri="{FF2B5EF4-FFF2-40B4-BE49-F238E27FC236}">
                <a16:creationId xmlns:a16="http://schemas.microsoft.com/office/drawing/2014/main" id="{18EF7987-4B3E-7F49-6AE7-A1DE3542B6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572768"/>
            <a:ext cx="64008" cy="932688"/>
          </a:xfrm>
          <a:prstGeom prst="rect">
            <a:avLst/>
          </a:prstGeom>
          <a:solidFill>
            <a:srgbClr val="E7B5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BDC935B4-6BF9-45DA-2B2B-A49EB9FA09A7}"/>
              </a:ext>
            </a:extLst>
          </p:cNvPr>
          <p:cNvSpPr/>
          <p:nvPr/>
        </p:nvSpPr>
        <p:spPr>
          <a:xfrm>
            <a:off x="859536" y="1691640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3D07A"/>
                </a:solidFill>
                <a:latin typeface="Arial" pitchFamily="34" charset="0"/>
                <a:cs typeface="Arial" pitchFamily="34" charset="-120"/>
              </a:rPr>
              <a:t>INVOICE:</a:t>
            </a:r>
            <a:endParaRPr lang="en-US" sz="105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211E31FD-68BE-158C-C2B2-309E8545C7E8}"/>
              </a:ext>
            </a:extLst>
          </p:cNvPr>
          <p:cNvSpPr/>
          <p:nvPr/>
        </p:nvSpPr>
        <p:spPr>
          <a:xfrm>
            <a:off x="859536" y="1956816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tháng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học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phí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tiếng</a:t>
            </a:r>
            <a:endParaRPr lang="en-US" sz="1400" dirty="0"/>
          </a:p>
        </p:txBody>
      </p:sp>
      <p:sp>
        <p:nvSpPr>
          <p:cNvPr id="12" name="req card">
            <a:extLst>
              <a:ext uri="{FF2B5EF4-FFF2-40B4-BE49-F238E27FC236}">
                <a16:creationId xmlns:a16="http://schemas.microsoft.com/office/drawing/2014/main" id="{ABA36332-5CF0-9152-8983-8D5E8A2A2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6704" y="1572768"/>
            <a:ext cx="2578608" cy="932688"/>
          </a:xfrm>
          <a:prstGeom prst="rect">
            <a:avLst/>
          </a:prstGeom>
          <a:solidFill>
            <a:srgbClr val="16345F">
              <a:alpha val="90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accent">
            <a:extLst>
              <a:ext uri="{FF2B5EF4-FFF2-40B4-BE49-F238E27FC236}">
                <a16:creationId xmlns:a16="http://schemas.microsoft.com/office/drawing/2014/main" id="{1CBCE53E-31BC-34B1-72F6-37866D281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6704" y="1572768"/>
            <a:ext cx="64008" cy="932688"/>
          </a:xfrm>
          <a:prstGeom prst="rect">
            <a:avLst/>
          </a:prstGeom>
          <a:solidFill>
            <a:srgbClr val="E7B5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006A733C-F4F2-34B6-E172-3BFD8D2ACD62}"/>
              </a:ext>
            </a:extLst>
          </p:cNvPr>
          <p:cNvSpPr/>
          <p:nvPr/>
        </p:nvSpPr>
        <p:spPr>
          <a:xfrm>
            <a:off x="3547872" y="1691640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3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INVOICE:</a:t>
            </a:r>
            <a:endParaRPr lang="en-US" sz="105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E475E2B7-CF43-C702-0F3C-87B2A0AF50A2}"/>
              </a:ext>
            </a:extLst>
          </p:cNvPr>
          <p:cNvSpPr/>
          <p:nvPr/>
        </p:nvSpPr>
        <p:spPr>
          <a:xfrm>
            <a:off x="3547872" y="1956816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Ngày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KTX +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ăn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sáng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ăn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tối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trong</a:t>
            </a: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90 </a:t>
            </a: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ngày</a:t>
            </a:r>
            <a:endParaRPr lang="en-US" sz="1400" dirty="0"/>
          </a:p>
        </p:txBody>
      </p:sp>
      <p:sp>
        <p:nvSpPr>
          <p:cNvPr id="16" name="req card">
            <a:extLst>
              <a:ext uri="{FF2B5EF4-FFF2-40B4-BE49-F238E27FC236}">
                <a16:creationId xmlns:a16="http://schemas.microsoft.com/office/drawing/2014/main" id="{B1DFCBBB-E773-D08C-8EE4-502D85D80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651760"/>
            <a:ext cx="2578608" cy="932688"/>
          </a:xfrm>
          <a:prstGeom prst="rect">
            <a:avLst/>
          </a:prstGeom>
          <a:solidFill>
            <a:srgbClr val="16345F">
              <a:alpha val="90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accent">
            <a:extLst>
              <a:ext uri="{FF2B5EF4-FFF2-40B4-BE49-F238E27FC236}">
                <a16:creationId xmlns:a16="http://schemas.microsoft.com/office/drawing/2014/main" id="{DFFA1C8B-86E4-CE76-2FAB-BB195E6F0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2651760"/>
            <a:ext cx="64008" cy="932688"/>
          </a:xfrm>
          <a:prstGeom prst="rect">
            <a:avLst/>
          </a:prstGeom>
          <a:solidFill>
            <a:srgbClr val="E7B5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AFA6ABFC-8358-2C18-1456-4917DEC9297D}"/>
              </a:ext>
            </a:extLst>
          </p:cNvPr>
          <p:cNvSpPr/>
          <p:nvPr/>
        </p:nvSpPr>
        <p:spPr>
          <a:xfrm>
            <a:off x="859536" y="2770632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3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VÉ MÁY BAY:</a:t>
            </a:r>
            <a:endParaRPr lang="en-US" sz="105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E3857C71-6196-FFBB-F3E7-BDF17258CFBB}"/>
              </a:ext>
            </a:extLst>
          </p:cNvPr>
          <p:cNvSpPr/>
          <p:nvPr/>
        </p:nvSpPr>
        <p:spPr>
          <a:xfrm>
            <a:off x="859536" y="3035808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ĐÃ BAO GỒM</a:t>
            </a:r>
            <a:endParaRPr lang="en-US" sz="1400" dirty="0"/>
          </a:p>
        </p:txBody>
      </p:sp>
      <p:sp>
        <p:nvSpPr>
          <p:cNvPr id="20" name="req card">
            <a:extLst>
              <a:ext uri="{FF2B5EF4-FFF2-40B4-BE49-F238E27FC236}">
                <a16:creationId xmlns:a16="http://schemas.microsoft.com/office/drawing/2014/main" id="{AAE5382C-E4B6-0EBB-AD27-A98245812D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6704" y="2651760"/>
            <a:ext cx="2578608" cy="932688"/>
          </a:xfrm>
          <a:prstGeom prst="rect">
            <a:avLst/>
          </a:prstGeom>
          <a:solidFill>
            <a:srgbClr val="16345F">
              <a:alpha val="90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accent">
            <a:extLst>
              <a:ext uri="{FF2B5EF4-FFF2-40B4-BE49-F238E27FC236}">
                <a16:creationId xmlns:a16="http://schemas.microsoft.com/office/drawing/2014/main" id="{EBCD2A21-F5DD-20A8-2190-5A48DE9AC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46704" y="2651760"/>
            <a:ext cx="64008" cy="932688"/>
          </a:xfrm>
          <a:prstGeom prst="rect">
            <a:avLst/>
          </a:prstGeom>
          <a:solidFill>
            <a:srgbClr val="E7B5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370F6524-ADDD-DDFF-E43C-CCE0C1F86680}"/>
              </a:ext>
            </a:extLst>
          </p:cNvPr>
          <p:cNvSpPr/>
          <p:nvPr/>
        </p:nvSpPr>
        <p:spPr>
          <a:xfrm>
            <a:off x="3547872" y="2770632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3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PHÍ TƯ VẤN HỒ SƠ</a:t>
            </a:r>
            <a:endParaRPr lang="en-US" sz="105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F7210918-6E58-4D0B-1669-679DC4CECBBC}"/>
              </a:ext>
            </a:extLst>
          </p:cNvPr>
          <p:cNvSpPr/>
          <p:nvPr/>
        </p:nvSpPr>
        <p:spPr>
          <a:xfrm>
            <a:off x="3547872" y="3035808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ĐÃ BAO GỒM</a:t>
            </a:r>
            <a:endParaRPr lang="en-US" sz="1400" dirty="0"/>
          </a:p>
        </p:txBody>
      </p:sp>
      <p:sp>
        <p:nvSpPr>
          <p:cNvPr id="24" name="req card">
            <a:extLst>
              <a:ext uri="{FF2B5EF4-FFF2-40B4-BE49-F238E27FC236}">
                <a16:creationId xmlns:a16="http://schemas.microsoft.com/office/drawing/2014/main" id="{05FB2DD6-6299-F833-7603-6B39693CB4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30752"/>
            <a:ext cx="3428646" cy="932688"/>
          </a:xfrm>
          <a:prstGeom prst="rect">
            <a:avLst/>
          </a:prstGeom>
          <a:solidFill>
            <a:srgbClr val="16345F">
              <a:alpha val="90000"/>
            </a:srgbClr>
          </a:solidFill>
          <a:ln w="9525">
            <a:solidFill>
              <a:srgbClr val="FFFFFF">
                <a:alpha val="2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accent">
            <a:extLst>
              <a:ext uri="{FF2B5EF4-FFF2-40B4-BE49-F238E27FC236}">
                <a16:creationId xmlns:a16="http://schemas.microsoft.com/office/drawing/2014/main" id="{3AA5E311-14CD-77F2-1BC4-CB5EE3A17F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730752"/>
            <a:ext cx="64008" cy="932688"/>
          </a:xfrm>
          <a:prstGeom prst="rect">
            <a:avLst/>
          </a:prstGeom>
          <a:solidFill>
            <a:srgbClr val="E7B5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04199624-F886-8723-ADE6-720D916CC799}"/>
              </a:ext>
            </a:extLst>
          </p:cNvPr>
          <p:cNvSpPr/>
          <p:nvPr/>
        </p:nvSpPr>
        <p:spPr>
          <a:xfrm>
            <a:off x="859536" y="3849624"/>
            <a:ext cx="225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3D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CHƯA BAO GỒM:</a:t>
            </a:r>
            <a:endParaRPr lang="en-US" sz="105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537C57EC-F274-AAB2-D0BF-A3521AB1DDDB}"/>
              </a:ext>
            </a:extLst>
          </p:cNvPr>
          <p:cNvSpPr/>
          <p:nvPr/>
        </p:nvSpPr>
        <p:spPr>
          <a:xfrm>
            <a:off x="859535" y="4114800"/>
            <a:ext cx="304055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SỔ K-STUDY 8 TRIỆU WON (KHOẢNG 140 TRIỆU VNĐ)</a:t>
            </a:r>
            <a:endParaRPr lang="en-US" sz="1400" dirty="0"/>
          </a:p>
        </p:txBody>
      </p:sp>
      <p:sp>
        <p:nvSpPr>
          <p:cNvPr id="28" name="stat panel">
            <a:extLst>
              <a:ext uri="{FF2B5EF4-FFF2-40B4-BE49-F238E27FC236}">
                <a16:creationId xmlns:a16="http://schemas.microsoft.com/office/drawing/2014/main" id="{BE04BBDE-FE4B-B279-AEE2-0C96A60B73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99632" y="1572768"/>
            <a:ext cx="2286000" cy="3108960"/>
          </a:xfrm>
          <a:prstGeom prst="rect">
            <a:avLst/>
          </a:prstGeom>
          <a:solidFill>
            <a:srgbClr val="E7B53C"/>
          </a:solidFill>
          <a:ln/>
          <a:effectLst>
            <a:outerShdw blurRad="88900" dist="38100" dir="81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CBBD57A2-3785-7A92-9F1C-99E7077969D2}"/>
              </a:ext>
            </a:extLst>
          </p:cNvPr>
          <p:cNvSpPr/>
          <p:nvPr/>
        </p:nvSpPr>
        <p:spPr>
          <a:xfrm>
            <a:off x="6199632" y="1737360"/>
            <a:ext cx="22860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2000"/>
              </a:lnSpc>
              <a:buNone/>
            </a:pPr>
            <a:r>
              <a:rPr lang="en-US" sz="1300" b="1" kern="0" spc="200" dirty="0">
                <a:solidFill>
                  <a:srgbClr val="0E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TRỌN GÓI DV</a:t>
            </a:r>
            <a:endParaRPr lang="en-US" sz="13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7200" b="1" dirty="0">
                <a:solidFill>
                  <a:srgbClr val="0E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</a:t>
            </a:r>
            <a:endParaRPr lang="en-US" sz="1300" dirty="0"/>
          </a:p>
          <a:p>
            <a:pPr algn="ctr">
              <a:lnSpc>
                <a:spcPct val="102000"/>
              </a:lnSpc>
            </a:pPr>
            <a:r>
              <a:rPr lang="en-US" sz="1500" b="1" kern="0" spc="200" dirty="0">
                <a:solidFill>
                  <a:srgbClr val="0E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BAO GỒM INVOICE</a:t>
            </a:r>
            <a:r>
              <a:rPr lang="en-US" sz="1300" dirty="0"/>
              <a:t> </a:t>
            </a:r>
          </a:p>
          <a:p>
            <a:pPr algn="ctr">
              <a:lnSpc>
                <a:spcPct val="102000"/>
              </a:lnSpc>
            </a:pPr>
            <a:r>
              <a:rPr lang="en-US" sz="1500" b="1" kern="0" spc="200" dirty="0">
                <a:solidFill>
                  <a:srgbClr val="0E26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VÀ PHÍ DỊCH VỤ</a:t>
            </a:r>
            <a:endParaRPr lang="en-US" sz="13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50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Cơ hội có giới hạn —</a:t>
            </a:r>
            <a:endParaRPr lang="en-US" sz="1300" dirty="0"/>
          </a:p>
          <a:p>
            <a:pPr marL="0" indent="0" algn="ctr">
              <a:lnSpc>
                <a:spcPct val="102000"/>
              </a:lnSpc>
              <a:buNone/>
            </a:pPr>
            <a:r>
              <a:rPr lang="en-US" sz="1150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đăng ký sớm để giữ suất.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0195398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90F30-47DB-DC6B-F53D-E6B441E6B9C7}"/>
              </a:ext>
            </a:extLst>
          </p:cNvPr>
          <p:cNvSpPr>
            <a:spLocks noGrp="1"/>
          </p:cNvSpPr>
          <p:nvPr>
            <p:ph type="title" idx="100"/>
          </p:nvPr>
        </p:nvSpPr>
        <p:spPr/>
        <p:txBody>
          <a:bodyPr/>
          <a:lstStyle/>
          <a:p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NẮM BẮT CƠ HỘI</a:t>
            </a:r>
            <a:b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XÂY DỰNG CUỘC SỐNG</a:t>
            </a:r>
          </a:p>
        </p:txBody>
      </p:sp>
    </p:spTree>
    <p:extLst>
      <p:ext uri="{BB962C8B-B14F-4D97-AF65-F5344CB8AC3E}">
        <p14:creationId xmlns:p14="http://schemas.microsoft.com/office/powerpoint/2010/main" val="4042593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603</Words>
  <Application>Microsoft Office PowerPoint</Application>
  <PresentationFormat>On-screen Show (16:9)</PresentationFormat>
  <Paragraphs>112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D4-1</vt:lpstr>
      <vt:lpstr>Thế mạnh chương trình</vt:lpstr>
      <vt:lpstr>Các ngành đào tạo mũi nhọn</vt:lpstr>
      <vt:lpstr>Bạn cần đáp ứng những gì?</vt:lpstr>
      <vt:lpstr>6 giai đoạn phát triển</vt:lpstr>
      <vt:lpstr>Cơ hội học tập &amp; làm việc tại Hàn Quốc đang chờ bạn</vt:lpstr>
      <vt:lpstr>Bạn cần đáp ứng những gì?</vt:lpstr>
      <vt:lpstr>NẮM BẮT CƠ HỘI XÂY DỰNG CUỘC SỐNG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Tra Thu Nguyen</dc:creator>
  <cp:lastModifiedBy>Tra Thu Nguyen</cp:lastModifiedBy>
  <cp:revision>1</cp:revision>
  <dcterms:created xsi:type="dcterms:W3CDTF">2026-07-15T02:10:25Z</dcterms:created>
  <dcterms:modified xsi:type="dcterms:W3CDTF">2026-07-15T08:24:45Z</dcterms:modified>
</cp:coreProperties>
</file>